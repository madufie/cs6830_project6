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a64d8d-d8bf-5d0f-0279-3be4d6187961}">
          <p14:sldIdLst>
            <p14:sldId id="256"/>
          </p14:sldIdLst>
        </p14:section>
        <p14:section name="Why it matters" id="{c8631b6a-22ca-f90e-9e67-44fe82f775f8}">
          <p14:sldIdLst>
            <p14:sldId id="257"/>
          </p14:sldIdLst>
        </p14:section>
        <p14:section name="Data" id="{11946d23-9e2c-fc8e-4523-92a3aa17dea0}">
          <p14:sldIdLst>
            <p14:sldId id="258"/>
          </p14:sldIdLst>
        </p14:section>
        <p14:section name="Findings" id="{a850ef0e-abb6-cf22-51eb-a215e98b31ef}">
          <p14:sldIdLst>
            <p14:sldId id="259"/>
            <p14:sldId id="260"/>
            <p14:sldId id="261"/>
            <p14:sldId id="262"/>
          </p14:sldIdLst>
        </p14:section>
        <p14:section name="Takeaways" id="{dfbc77a1-371d-2996-9cf4-8166a69c2f6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Baseflow is the groundwater fed part of a river. It is what keeps streams alive between storms. We asked whether we can predict it, and what irrigation pumping does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Stakeholders: water managers and compact regulators. This matters because the Republican River has been fought over in court for decades, and the fight is exactly about groundwater pumping.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river segment in one month. The map already shows the main challenge: segments differ by orders of magnitude, from tiny tributaries to main stem reaches near 400 cfs.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didn’t make sense at first: precipitation barely correlates with baseflow. The resolution is that river identity swamps the climate signal when everything is pooled.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caution we caught: the naive basin average is misleading because the set of gaged segments changes over time. This fixed cohort view is the honest trend, and it still falls by roughly forty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result surprised us with its size: one categorical variable moves R squared from 0.12 to 0.82. Coordinates alone do not substitute, and per segment pumping slopes added almost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segment regressions let each river respond in its own way. Precipitation adds baseflow, evapotranspiration removes it, and in two thirds of pumped segments the pumping fingerprint is statistically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for a water manager: the model is simple, transparent, and good enough to say where pumping is hurting the river. That is where measurement and management attention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366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CFCF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700" b="1" dirty="0">
                <a:solidFill>
                  <a:srgbClr val="0D366B"/>
                </a:solidFill>
              </a:defRPr>
            </a:lvl1pPr>
          </a:lstStyle>
          <a:p>
            <a:pPr algn="l" indent="0" marL="0">
              <a:buNone/>
            </a:pPr>
            <a:r>
              <a:rPr lang="en-US" sz="2700" b="1" dirty="0">
                <a:solidFill>
                  <a:srgbClr val="0D366B"/>
                </a:solidFill>
              </a:rPr>
              <a:t>Title</a:t>
            </a:r>
            <a:endParaRPr lang="en-US" sz="270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in title"/>
          <p:cNvSpPr txBox="1"/>
          <p:nvPr/>
        </p:nvSpPr>
        <p:spPr>
          <a:xfrm>
            <a:off x="822960" y="1874520"/>
            <a:ext cx="10515600" cy="1005840"/>
          </a:xfrm>
          <a:prstGeom prst="rect">
            <a:avLst/>
          </a:prstGeom>
          <a:noFill/>
          <a:ln/>
        </p:spPr>
        <p:txBody>
          <a:bodyPr wrap="square" lIns="0" tIns="0" rIns="0" bIns="0" rtlCol="0" anchor="ctr"/>
          <a:lstStyle/>
          <a:p>
            <a:pPr indent="0" marL="0">
              <a:buNone/>
            </a:pPr>
            <a:r>
              <a:rPr lang="en-US" sz="4400" b="1" dirty="0">
                <a:solidFill>
                  <a:srgbClr val="FFFFFF"/>
                </a:solidFill>
              </a:rPr>
              <a:t>When the River Runs Low</a:t>
            </a:r>
            <a:endParaRPr lang="en-US" sz="4400" dirty="0"/>
          </a:p>
        </p:txBody>
      </p:sp>
      <p:sp>
        <p:nvSpPr>
          <p:cNvPr id="3" name="subtitle"/>
          <p:cNvSpPr txBox="1"/>
          <p:nvPr/>
        </p:nvSpPr>
        <p:spPr>
          <a:xfrm>
            <a:off x="822960" y="2971800"/>
            <a:ext cx="9601200" cy="822960"/>
          </a:xfrm>
          <a:prstGeom prst="rect">
            <a:avLst/>
          </a:prstGeom>
          <a:noFill/>
          <a:ln/>
        </p:spPr>
        <p:txBody>
          <a:bodyPr wrap="square" lIns="0" tIns="0" rIns="0" bIns="0" rtlCol="0" anchor="ctr"/>
          <a:lstStyle/>
          <a:p>
            <a:pPr indent="0" marL="0">
              <a:buNone/>
            </a:pPr>
            <a:r>
              <a:rPr lang="en-US" sz="2000" dirty="0">
                <a:solidFill>
                  <a:srgbClr val="CDE2FB"/>
                </a:solidFill>
              </a:rPr>
              <a:t>Predicting baseflow in the Republican River basin with multiple linear regression</a:t>
            </a:r>
            <a:endParaRPr lang="en-US" sz="2000" dirty="0"/>
          </a:p>
        </p:txBody>
      </p:sp>
      <p:sp>
        <p:nvSpPr>
          <p:cNvPr id="4" name="byline"/>
          <p:cNvSpPr txBox="1"/>
          <p:nvPr/>
        </p:nvSpPr>
        <p:spPr>
          <a:xfrm>
            <a:off x="822960" y="5760720"/>
            <a:ext cx="9144000" cy="457200"/>
          </a:xfrm>
          <a:prstGeom prst="rect">
            <a:avLst/>
          </a:prstGeom>
          <a:noFill/>
          <a:ln/>
        </p:spPr>
        <p:txBody>
          <a:bodyPr wrap="square" lIns="0" tIns="0" rIns="0" bIns="0" rtlCol="0" anchor="ctr"/>
          <a:lstStyle/>
          <a:p>
            <a:pPr indent="0" marL="0">
              <a:buNone/>
            </a:pPr>
            <a:r>
              <a:rPr lang="en-US" sz="1400" dirty="0">
                <a:solidFill>
                  <a:srgbClr val="9EC5F4"/>
                </a:solidFill>
              </a:rPr>
              <a:t>[Team member names]   |   CS 5830/6830, Project 6</a:t>
            </a:r>
            <a:endParaRPr lang="en-US" sz="1400" dirty="0"/>
          </a:p>
        </p:txBody>
      </p:sp>
      <p:sp>
        <p:nvSpPr>
          <p:cNvPr id="5" name="Shape 3"/>
          <p:cNvSpPr/>
          <p:nvPr/>
        </p:nvSpPr>
        <p:spPr>
          <a:xfrm>
            <a:off x="0" y="4663440"/>
            <a:ext cx="12188952" cy="0"/>
          </a:xfrm>
          <a:prstGeom prst="rect">
            <a:avLst/>
          </a:prstGeom>
          <a:noFill/>
          <a:ln w="12700">
            <a:solidFill>
              <a:srgbClr val="0D366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Baseflow is the water a river keeps when the rain stops</a:t>
            </a:r>
            <a:endParaRPr lang="en-US" sz="2700" dirty="0"/>
          </a:p>
        </p:txBody>
      </p:sp>
      <p:sp>
        <p:nvSpPr>
          <p:cNvPr id="3" name="bullet circle 1"/>
          <p:cNvSpPr/>
          <p:nvPr/>
        </p:nvSpPr>
        <p:spPr>
          <a:xfrm>
            <a:off x="640080" y="1673352"/>
            <a:ext cx="566928" cy="566928"/>
          </a:xfrm>
          <a:prstGeom prst="ellipse">
            <a:avLst/>
          </a:prstGeom>
          <a:solidFill>
            <a:srgbClr val="2A78D6"/>
          </a:solidFill>
          <a:ln/>
        </p:spPr>
      </p:sp>
      <p:sp>
        <p:nvSpPr>
          <p:cNvPr id="4" name="bullet number 1"/>
          <p:cNvSpPr txBox="1"/>
          <p:nvPr/>
        </p:nvSpPr>
        <p:spPr>
          <a:xfrm>
            <a:off x="640080" y="167335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5" name="row head 1"/>
          <p:cNvSpPr txBox="1"/>
          <p:nvPr/>
        </p:nvSpPr>
        <p:spPr>
          <a:xfrm>
            <a:off x="1463040" y="1600200"/>
            <a:ext cx="6309360" cy="365760"/>
          </a:xfrm>
          <a:prstGeom prst="rect">
            <a:avLst/>
          </a:prstGeom>
          <a:noFill/>
          <a:ln/>
        </p:spPr>
        <p:txBody>
          <a:bodyPr wrap="square" lIns="0" tIns="0" rIns="0" bIns="0" rtlCol="0" anchor="ctr"/>
          <a:lstStyle/>
          <a:p>
            <a:pPr indent="0" marL="0">
              <a:buNone/>
            </a:pPr>
            <a:r>
              <a:rPr lang="en-US" sz="1700" b="1" dirty="0">
                <a:solidFill>
                  <a:srgbClr val="0B0B0B"/>
                </a:solidFill>
              </a:rPr>
              <a:t>Life support in dry months</a:t>
            </a:r>
            <a:endParaRPr lang="en-US" sz="1700" dirty="0"/>
          </a:p>
        </p:txBody>
      </p:sp>
      <p:sp>
        <p:nvSpPr>
          <p:cNvPr id="6" name="row body 1"/>
          <p:cNvSpPr txBox="1"/>
          <p:nvPr/>
        </p:nvSpPr>
        <p:spPr>
          <a:xfrm>
            <a:off x="1463040" y="1984248"/>
            <a:ext cx="6309360" cy="914400"/>
          </a:xfrm>
          <a:prstGeom prst="rect">
            <a:avLst/>
          </a:prstGeom>
          <a:noFill/>
          <a:ln/>
        </p:spPr>
        <p:txBody>
          <a:bodyPr wrap="square" lIns="0" tIns="0" rIns="0" bIns="0" rtlCol="0" anchor="ctr"/>
          <a:lstStyle/>
          <a:p>
            <a:pPr indent="0" marL="0">
              <a:buNone/>
            </a:pPr>
            <a:r>
              <a:rPr lang="en-US" sz="1400" dirty="0">
                <a:solidFill>
                  <a:srgbClr val="52514E"/>
                </a:solidFill>
              </a:rPr>
              <a:t>Groundwater seepage keeps streams flowing through summer, feeding farms, towns, and wildlife.</a:t>
            </a:r>
            <a:endParaRPr lang="en-US" sz="1400" dirty="0"/>
          </a:p>
        </p:txBody>
      </p:sp>
      <p:sp>
        <p:nvSpPr>
          <p:cNvPr id="7" name="bullet circle 2"/>
          <p:cNvSpPr/>
          <p:nvPr/>
        </p:nvSpPr>
        <p:spPr>
          <a:xfrm>
            <a:off x="640080" y="3182112"/>
            <a:ext cx="566928" cy="566928"/>
          </a:xfrm>
          <a:prstGeom prst="ellipse">
            <a:avLst/>
          </a:prstGeom>
          <a:solidFill>
            <a:srgbClr val="EB6834"/>
          </a:solidFill>
          <a:ln/>
        </p:spPr>
      </p:sp>
      <p:sp>
        <p:nvSpPr>
          <p:cNvPr id="8" name="bullet number 2"/>
          <p:cNvSpPr txBox="1"/>
          <p:nvPr/>
        </p:nvSpPr>
        <p:spPr>
          <a:xfrm>
            <a:off x="640080" y="318211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9" name="row head 2"/>
          <p:cNvSpPr txBox="1"/>
          <p:nvPr/>
        </p:nvSpPr>
        <p:spPr>
          <a:xfrm>
            <a:off x="1463040" y="3108960"/>
            <a:ext cx="6309360" cy="365760"/>
          </a:xfrm>
          <a:prstGeom prst="rect">
            <a:avLst/>
          </a:prstGeom>
          <a:noFill/>
          <a:ln/>
        </p:spPr>
        <p:txBody>
          <a:bodyPr wrap="square" lIns="0" tIns="0" rIns="0" bIns="0" rtlCol="0" anchor="ctr"/>
          <a:lstStyle/>
          <a:p>
            <a:pPr indent="0" marL="0">
              <a:buNone/>
            </a:pPr>
            <a:r>
              <a:rPr lang="en-US" sz="1700" b="1" dirty="0">
                <a:solidFill>
                  <a:srgbClr val="0B0B0B"/>
                </a:solidFill>
              </a:rPr>
              <a:t>A three state legal question</a:t>
            </a:r>
            <a:endParaRPr lang="en-US" sz="1700" dirty="0"/>
          </a:p>
        </p:txBody>
      </p:sp>
      <p:sp>
        <p:nvSpPr>
          <p:cNvPr id="10" name="row body 2"/>
          <p:cNvSpPr txBox="1"/>
          <p:nvPr/>
        </p:nvSpPr>
        <p:spPr>
          <a:xfrm>
            <a:off x="1463040" y="3493008"/>
            <a:ext cx="6309360" cy="914400"/>
          </a:xfrm>
          <a:prstGeom prst="rect">
            <a:avLst/>
          </a:prstGeom>
          <a:noFill/>
          <a:ln/>
        </p:spPr>
        <p:txBody>
          <a:bodyPr wrap="square" lIns="0" tIns="0" rIns="0" bIns="0" rtlCol="0" anchor="ctr"/>
          <a:lstStyle/>
          <a:p>
            <a:pPr indent="0" marL="0">
              <a:buNone/>
            </a:pPr>
            <a:r>
              <a:rPr lang="en-US" sz="1400" dirty="0">
                <a:solidFill>
                  <a:srgbClr val="52514E"/>
                </a:solidFill>
              </a:rPr>
              <a:t>Colorado, Nebraska, and Kansas share this river under an interstate compact, and pumping disputes have gone to the Supreme Court.</a:t>
            </a:r>
            <a:endParaRPr lang="en-US" sz="1400" dirty="0"/>
          </a:p>
        </p:txBody>
      </p:sp>
      <p:sp>
        <p:nvSpPr>
          <p:cNvPr id="11" name="bullet circle 3"/>
          <p:cNvSpPr/>
          <p:nvPr/>
        </p:nvSpPr>
        <p:spPr>
          <a:xfrm>
            <a:off x="640080" y="4690872"/>
            <a:ext cx="566928" cy="566928"/>
          </a:xfrm>
          <a:prstGeom prst="ellipse">
            <a:avLst/>
          </a:prstGeom>
          <a:solidFill>
            <a:srgbClr val="2A78D6"/>
          </a:solidFill>
          <a:ln/>
        </p:spPr>
      </p:sp>
      <p:sp>
        <p:nvSpPr>
          <p:cNvPr id="12" name="bullet number 3"/>
          <p:cNvSpPr txBox="1"/>
          <p:nvPr/>
        </p:nvSpPr>
        <p:spPr>
          <a:xfrm>
            <a:off x="640080" y="46908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3" name="row head 3"/>
          <p:cNvSpPr txBox="1"/>
          <p:nvPr/>
        </p:nvSpPr>
        <p:spPr>
          <a:xfrm>
            <a:off x="1463040" y="4617720"/>
            <a:ext cx="6309360" cy="365760"/>
          </a:xfrm>
          <a:prstGeom prst="rect">
            <a:avLst/>
          </a:prstGeom>
          <a:noFill/>
          <a:ln/>
        </p:spPr>
        <p:txBody>
          <a:bodyPr wrap="square" lIns="0" tIns="0" rIns="0" bIns="0" rtlCol="0" anchor="ctr"/>
          <a:lstStyle/>
          <a:p>
            <a:pPr indent="0" marL="0">
              <a:buNone/>
            </a:pPr>
            <a:r>
              <a:rPr lang="en-US" sz="1700" b="1" dirty="0">
                <a:solidFill>
                  <a:srgbClr val="0B0B0B"/>
                </a:solidFill>
              </a:rPr>
              <a:t>A management question</a:t>
            </a:r>
            <a:endParaRPr lang="en-US" sz="1700" dirty="0"/>
          </a:p>
        </p:txBody>
      </p:sp>
      <p:sp>
        <p:nvSpPr>
          <p:cNvPr id="14" name="row body 3"/>
          <p:cNvSpPr txBox="1"/>
          <p:nvPr/>
        </p:nvSpPr>
        <p:spPr>
          <a:xfrm>
            <a:off x="1463040" y="5001768"/>
            <a:ext cx="6309360" cy="914400"/>
          </a:xfrm>
          <a:prstGeom prst="rect">
            <a:avLst/>
          </a:prstGeom>
          <a:noFill/>
          <a:ln/>
        </p:spPr>
        <p:txBody>
          <a:bodyPr wrap="square" lIns="0" tIns="0" rIns="0" bIns="0" rtlCol="0" anchor="ctr"/>
          <a:lstStyle/>
          <a:p>
            <a:pPr indent="0" marL="0">
              <a:buNone/>
            </a:pPr>
            <a:r>
              <a:rPr lang="en-US" sz="1400" dirty="0">
                <a:solidFill>
                  <a:srgbClr val="52514E"/>
                </a:solidFill>
              </a:rPr>
              <a:t>Regulators need to know how much of the decline is climate and how much is irrigation pumping.</a:t>
            </a:r>
            <a:endParaRPr lang="en-US" sz="1400" dirty="0"/>
          </a:p>
        </p:txBody>
      </p:sp>
      <p:sp>
        <p:nvSpPr>
          <p:cNvPr id="15" name="stakeholder card"/>
          <p:cNvSpPr/>
          <p:nvPr/>
        </p:nvSpPr>
        <p:spPr>
          <a:xfrm>
            <a:off x="8229600" y="1737360"/>
            <a:ext cx="3383280" cy="4023360"/>
          </a:xfrm>
          <a:prstGeom prst="roundRect">
            <a:avLst>
              <a:gd name="adj" fmla="val 3243"/>
            </a:avLst>
          </a:prstGeom>
          <a:solidFill>
            <a:srgbClr val="EFF4FB"/>
          </a:solidFill>
          <a:ln/>
        </p:spPr>
      </p:sp>
      <p:sp>
        <p:nvSpPr>
          <p:cNvPr id="16" name="stakeholder head"/>
          <p:cNvSpPr txBox="1"/>
          <p:nvPr/>
        </p:nvSpPr>
        <p:spPr>
          <a:xfrm>
            <a:off x="8549640" y="2011680"/>
            <a:ext cx="2743200" cy="365760"/>
          </a:xfrm>
          <a:prstGeom prst="rect">
            <a:avLst/>
          </a:prstGeom>
          <a:noFill/>
          <a:ln/>
        </p:spPr>
        <p:txBody>
          <a:bodyPr wrap="square" lIns="0" tIns="0" rIns="0" bIns="0" rtlCol="0" anchor="ctr"/>
          <a:lstStyle/>
          <a:p>
            <a:pPr indent="0" marL="0">
              <a:buNone/>
            </a:pPr>
            <a:r>
              <a:rPr lang="en-US" sz="1500" b="1" dirty="0">
                <a:solidFill>
                  <a:srgbClr val="0D366B"/>
                </a:solidFill>
              </a:rPr>
              <a:t>Who this is for</a:t>
            </a:r>
            <a:endParaRPr lang="en-US" sz="1500" dirty="0"/>
          </a:p>
        </p:txBody>
      </p:sp>
      <p:sp>
        <p:nvSpPr>
          <p:cNvPr id="17" name="stakeholder list"/>
          <p:cNvSpPr txBox="1"/>
          <p:nvPr/>
        </p:nvSpPr>
        <p:spPr>
          <a:xfrm>
            <a:off x="8549640" y="2514600"/>
            <a:ext cx="2834640" cy="301752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0B0B0B"/>
                </a:solidFill>
              </a:rPr>
              <a:t>Basin water managers</a:t>
            </a:r>
            <a:endParaRPr lang="en-US" sz="1350" dirty="0"/>
          </a:p>
          <a:p>
            <a:pPr marL="342900" indent="-342900">
              <a:spcAft>
                <a:spcPts val="1000"/>
              </a:spcAft>
              <a:buSzPct val="100000"/>
              <a:buChar char="•"/>
            </a:pPr>
            <a:r>
              <a:rPr lang="en-US" sz="1350" dirty="0">
                <a:solidFill>
                  <a:srgbClr val="0B0B0B"/>
                </a:solidFill>
              </a:rPr>
              <a:t>Compact regulators in the three states</a:t>
            </a:r>
            <a:endParaRPr lang="en-US" sz="1350" dirty="0"/>
          </a:p>
          <a:p>
            <a:pPr marL="342900" indent="-342900">
              <a:spcAft>
                <a:spcPts val="1000"/>
              </a:spcAft>
              <a:buSzPct val="100000"/>
              <a:buChar char="•"/>
            </a:pPr>
            <a:r>
              <a:rPr lang="en-US" sz="1350" dirty="0">
                <a:solidFill>
                  <a:srgbClr val="0B0B0B"/>
                </a:solidFill>
              </a:rPr>
              <a:t>Irrigation districts planning well use</a:t>
            </a:r>
            <a:endParaRPr lang="en-US" sz="1350" dirty="0"/>
          </a:p>
          <a:p>
            <a:pPr marL="342900" indent="-342900">
              <a:spcAft>
                <a:spcPts val="1000"/>
              </a:spcAft>
              <a:buSzPct val="100000"/>
              <a:buChar char="•"/>
            </a:pPr>
            <a:r>
              <a:rPr lang="en-US" sz="1350" dirty="0">
                <a:solidFill>
                  <a:srgbClr val="0B0B0B"/>
                </a:solidFill>
              </a:rPr>
              <a:t>Anyone forecasting dry season flow</a:t>
            </a:r>
            <a:endParaRPr lang="en-US" sz="135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61 years of monthly river and climate records</a:t>
            </a:r>
            <a:endParaRPr lang="en-US" sz="2700" dirty="0"/>
          </a:p>
        </p:txBody>
      </p:sp>
      <p:sp>
        <p:nvSpPr>
          <p:cNvPr id="3" name="stat monthly observations, Sept 1939 to Aug 2000"/>
          <p:cNvSpPr txBox="1"/>
          <p:nvPr/>
        </p:nvSpPr>
        <p:spPr>
          <a:xfrm>
            <a:off x="640080" y="1554480"/>
            <a:ext cx="2926080" cy="777240"/>
          </a:xfrm>
          <a:prstGeom prst="rect">
            <a:avLst/>
          </a:prstGeom>
          <a:noFill/>
          <a:ln/>
        </p:spPr>
        <p:txBody>
          <a:bodyPr wrap="square" lIns="0" tIns="0" rIns="0" bIns="0" rtlCol="0" anchor="ctr"/>
          <a:lstStyle/>
          <a:p>
            <a:pPr algn="l" indent="0" marL="0">
              <a:buNone/>
            </a:pPr>
            <a:r>
              <a:rPr lang="en-US" sz="4800" b="1" dirty="0">
                <a:solidFill>
                  <a:srgbClr val="2A78D6"/>
                </a:solidFill>
              </a:rPr>
              <a:t>15,591</a:t>
            </a:r>
            <a:endParaRPr lang="en-US" sz="4800" dirty="0"/>
          </a:p>
        </p:txBody>
      </p:sp>
      <p:sp>
        <p:nvSpPr>
          <p:cNvPr id="4" name="stat label monthly observations, Sept 1939 to Aug 2000"/>
          <p:cNvSpPr txBox="1"/>
          <p:nvPr/>
        </p:nvSpPr>
        <p:spPr>
          <a:xfrm>
            <a:off x="640080" y="2359152"/>
            <a:ext cx="2926080" cy="685800"/>
          </a:xfrm>
          <a:prstGeom prst="rect">
            <a:avLst/>
          </a:prstGeom>
          <a:noFill/>
          <a:ln/>
        </p:spPr>
        <p:txBody>
          <a:bodyPr wrap="square" lIns="0" tIns="0" rIns="0" bIns="0" rtlCol="0" anchor="ctr"/>
          <a:lstStyle/>
          <a:p>
            <a:pPr algn="l" indent="0" marL="0">
              <a:buNone/>
            </a:pPr>
            <a:r>
              <a:rPr lang="en-US" sz="1300" dirty="0">
                <a:solidFill>
                  <a:srgbClr val="52514E"/>
                </a:solidFill>
              </a:rPr>
              <a:t>monthly observations, Sept 1939 to Aug 2000</a:t>
            </a:r>
            <a:endParaRPr lang="en-US" sz="1300" dirty="0"/>
          </a:p>
        </p:txBody>
      </p:sp>
      <p:sp>
        <p:nvSpPr>
          <p:cNvPr id="5" name="stat river segments, each with its own gaging station"/>
          <p:cNvSpPr txBox="1"/>
          <p:nvPr/>
        </p:nvSpPr>
        <p:spPr>
          <a:xfrm>
            <a:off x="640080" y="3154680"/>
            <a:ext cx="2926080" cy="777240"/>
          </a:xfrm>
          <a:prstGeom prst="rect">
            <a:avLst/>
          </a:prstGeom>
          <a:noFill/>
          <a:ln/>
        </p:spPr>
        <p:txBody>
          <a:bodyPr wrap="square" lIns="0" tIns="0" rIns="0" bIns="0" rtlCol="0" anchor="ctr"/>
          <a:lstStyle/>
          <a:p>
            <a:pPr algn="l" indent="0" marL="0">
              <a:buNone/>
            </a:pPr>
            <a:r>
              <a:rPr lang="en-US" sz="4800" b="1" dirty="0">
                <a:solidFill>
                  <a:srgbClr val="2A78D6"/>
                </a:solidFill>
              </a:rPr>
              <a:t>42</a:t>
            </a:r>
            <a:endParaRPr lang="en-US" sz="4800" dirty="0"/>
          </a:p>
        </p:txBody>
      </p:sp>
      <p:sp>
        <p:nvSpPr>
          <p:cNvPr id="6" name="stat label river segments, each with its own gaging station"/>
          <p:cNvSpPr txBox="1"/>
          <p:nvPr/>
        </p:nvSpPr>
        <p:spPr>
          <a:xfrm>
            <a:off x="640080" y="3959352"/>
            <a:ext cx="2926080" cy="685800"/>
          </a:xfrm>
          <a:prstGeom prst="rect">
            <a:avLst/>
          </a:prstGeom>
          <a:noFill/>
          <a:ln/>
        </p:spPr>
        <p:txBody>
          <a:bodyPr wrap="square" lIns="0" tIns="0" rIns="0" bIns="0" rtlCol="0" anchor="ctr"/>
          <a:lstStyle/>
          <a:p>
            <a:pPr algn="l" indent="0" marL="0">
              <a:buNone/>
            </a:pPr>
            <a:r>
              <a:rPr lang="en-US" sz="1300" dirty="0">
                <a:solidFill>
                  <a:srgbClr val="52514E"/>
                </a:solidFill>
              </a:rPr>
              <a:t>river segments, each with its own gaging station</a:t>
            </a:r>
            <a:endParaRPr lang="en-US" sz="1300" dirty="0"/>
          </a:p>
        </p:txBody>
      </p:sp>
      <p:sp>
        <p:nvSpPr>
          <p:cNvPr id="7" name="stat measured drivers: date, precipitation, evapotranspiration, irrigation pumping"/>
          <p:cNvSpPr txBox="1"/>
          <p:nvPr/>
        </p:nvSpPr>
        <p:spPr>
          <a:xfrm>
            <a:off x="640080" y="4754880"/>
            <a:ext cx="2926080" cy="777240"/>
          </a:xfrm>
          <a:prstGeom prst="rect">
            <a:avLst/>
          </a:prstGeom>
          <a:noFill/>
          <a:ln/>
        </p:spPr>
        <p:txBody>
          <a:bodyPr wrap="square" lIns="0" tIns="0" rIns="0" bIns="0" rtlCol="0" anchor="ctr"/>
          <a:lstStyle/>
          <a:p>
            <a:pPr algn="l" indent="0" marL="0">
              <a:buNone/>
            </a:pPr>
            <a:r>
              <a:rPr lang="en-US" sz="4800" b="1" dirty="0">
                <a:solidFill>
                  <a:srgbClr val="EB6834"/>
                </a:solidFill>
              </a:rPr>
              <a:t>4</a:t>
            </a:r>
            <a:endParaRPr lang="en-US" sz="4800" dirty="0"/>
          </a:p>
        </p:txBody>
      </p:sp>
      <p:sp>
        <p:nvSpPr>
          <p:cNvPr id="8" name="stat label measured drivers: date, precipitation, evapotranspiration, irrigation pumping"/>
          <p:cNvSpPr txBox="1"/>
          <p:nvPr/>
        </p:nvSpPr>
        <p:spPr>
          <a:xfrm>
            <a:off x="640080" y="5559552"/>
            <a:ext cx="2926080" cy="685800"/>
          </a:xfrm>
          <a:prstGeom prst="rect">
            <a:avLst/>
          </a:prstGeom>
          <a:noFill/>
          <a:ln/>
        </p:spPr>
        <p:txBody>
          <a:bodyPr wrap="square" lIns="0" tIns="0" rIns="0" bIns="0" rtlCol="0" anchor="ctr"/>
          <a:lstStyle/>
          <a:p>
            <a:pPr algn="l" indent="0" marL="0">
              <a:buNone/>
            </a:pPr>
            <a:r>
              <a:rPr lang="en-US" sz="1300" dirty="0">
                <a:solidFill>
                  <a:srgbClr val="52514E"/>
                </a:solidFill>
              </a:rPr>
              <a:t>measured drivers: date, precipitation, evapotranspiration, irrigation pumping</a:t>
            </a:r>
            <a:endParaRPr lang="en-US" sz="1300" dirty="0"/>
          </a:p>
        </p:txBody>
      </p:sp>
      <p:pic>
        <p:nvPicPr>
          <p:cNvPr id="9" name="Image 0" descr="/private/tmp/claude-501/-Users-abinashpant-Desktop-cs6830-project6/b04280d9-8c96-4ee3-a8e4-58179a117bd3/scratchpad/figs/fig3_map.png">    </p:cNvPr>
          <p:cNvPicPr>
            <a:picLocks noChangeAspect="1"/>
          </p:cNvPicPr>
          <p:nvPr/>
        </p:nvPicPr>
        <p:blipFill>
          <a:blip r:embed="rId1"/>
          <a:stretch>
            <a:fillRect/>
          </a:stretch>
        </p:blipFill>
        <p:spPr>
          <a:xfrm>
            <a:off x="3931920" y="1869948"/>
            <a:ext cx="7680960" cy="4032504"/>
          </a:xfrm>
          <a:prstGeom prst="rect">
            <a:avLst/>
          </a:prstGeom>
        </p:spPr>
      </p:pic>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No single input explains baseflow on its own</a:t>
            </a:r>
            <a:endParaRPr lang="en-US" sz="2700" dirty="0"/>
          </a:p>
        </p:txBody>
      </p:sp>
      <p:pic>
        <p:nvPicPr>
          <p:cNvPr id="3" name="Image 0" descr="/private/tmp/claude-501/-Users-abinashpant-Desktop-cs6830-project6/b04280d9-8c96-4ee3-a8e4-58179a117bd3/scratchpad/figs/fig1_slide.png">    </p:cNvPr>
          <p:cNvPicPr>
            <a:picLocks noChangeAspect="1"/>
          </p:cNvPicPr>
          <p:nvPr/>
        </p:nvPicPr>
        <p:blipFill>
          <a:blip r:embed="rId1"/>
          <a:stretch>
            <a:fillRect/>
          </a:stretch>
        </p:blipFill>
        <p:spPr>
          <a:xfrm>
            <a:off x="457200" y="1697355"/>
            <a:ext cx="11247120" cy="3280410"/>
          </a:xfrm>
          <a:prstGeom prst="rect">
            <a:avLst/>
          </a:prstGeom>
        </p:spPr>
      </p:pic>
      <p:sp>
        <p:nvSpPr>
          <p:cNvPr id="4" name="slide4 takeaway"/>
          <p:cNvSpPr txBox="1"/>
          <p:nvPr/>
        </p:nvSpPr>
        <p:spPr>
          <a:xfrm>
            <a:off x="1005840" y="5486400"/>
            <a:ext cx="10149840" cy="914400"/>
          </a:xfrm>
          <a:prstGeom prst="rect">
            <a:avLst/>
          </a:prstGeom>
          <a:noFill/>
          <a:ln/>
        </p:spPr>
        <p:txBody>
          <a:bodyPr wrap="square" lIns="0" tIns="0" rIns="0" bIns="0" rtlCol="0" anchor="ctr"/>
          <a:lstStyle/>
          <a:p>
            <a:pPr algn="ctr" indent="0" marL="0">
              <a:buNone/>
            </a:pPr>
            <a:r>
              <a:rPr lang="en-US" sz="1500" dirty="0">
                <a:solidFill>
                  <a:srgbClr val="52514E"/>
                </a:solidFill>
              </a:rPr>
              <a:t>The strongest single correlation with baseflow is only 0.27 (precipitation). The pooled scatterplots look like noise because 42 very different rivers are stacked on top of each other.</a:t>
            </a:r>
            <a:endParaRPr lang="en-US" sz="150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As pumping grew, baseflow declined</a:t>
            </a:r>
            <a:endParaRPr lang="en-US" sz="2700" dirty="0"/>
          </a:p>
        </p:txBody>
      </p:sp>
      <p:pic>
        <p:nvPicPr>
          <p:cNvPr id="3" name="Image 0" descr="/private/tmp/claude-501/-Users-abinashpant-Desktop-cs6830-project6/b04280d9-8c96-4ee3-a8e4-58179a117bd3/scratchpad/figs/fig2_slide.png">    </p:cNvPr>
          <p:cNvPicPr>
            <a:picLocks noChangeAspect="1"/>
          </p:cNvPicPr>
          <p:nvPr/>
        </p:nvPicPr>
        <p:blipFill>
          <a:blip r:embed="rId1"/>
          <a:stretch>
            <a:fillRect/>
          </a:stretch>
        </p:blipFill>
        <p:spPr>
          <a:xfrm>
            <a:off x="457200" y="1491719"/>
            <a:ext cx="11247120" cy="3783122"/>
          </a:xfrm>
          <a:prstGeom prst="rect">
            <a:avLst/>
          </a:prstGeom>
        </p:spPr>
      </p:pic>
      <p:sp>
        <p:nvSpPr>
          <p:cNvPr id="4" name="slide5 takeaway"/>
          <p:cNvSpPr txBox="1"/>
          <p:nvPr/>
        </p:nvSpPr>
        <p:spPr>
          <a:xfrm>
            <a:off x="1005840" y="5532120"/>
            <a:ext cx="10149840" cy="914400"/>
          </a:xfrm>
          <a:prstGeom prst="rect">
            <a:avLst/>
          </a:prstGeom>
          <a:noFill/>
          <a:ln/>
        </p:spPr>
        <p:txBody>
          <a:bodyPr wrap="square" lIns="0" tIns="0" rIns="0" bIns="0" rtlCol="0" anchor="ctr"/>
          <a:lstStyle/>
          <a:p>
            <a:pPr algn="ctr" indent="0" marL="0">
              <a:buNone/>
            </a:pPr>
            <a:r>
              <a:rPr lang="en-US" sz="1500" dirty="0">
                <a:solidFill>
                  <a:srgbClr val="52514E"/>
                </a:solidFill>
              </a:rPr>
              <a:t>Across the ten segments with records spanning the early 1940s through 1999, baseflow fell from about 14 cfs in the 1940s to about 8 cfs by the late 1990s, while irrigation pumping rose from near zero to a sustained high level.</a:t>
            </a:r>
            <a:endParaRPr lang="en-US" sz="150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Knowing which river it is transforms the model</a:t>
            </a:r>
            <a:endParaRPr lang="en-US" sz="2700" dirty="0"/>
          </a:p>
        </p:txBody>
      </p:sp>
      <p:pic>
        <p:nvPicPr>
          <p:cNvPr id="3" name="Image 0" descr="/private/tmp/claude-501/-Users-abinashpant-Desktop-cs6830-project6/b04280d9-8c96-4ee3-a8e4-58179a117bd3/scratchpad/figs/fig4_slide.png">    </p:cNvPr>
          <p:cNvPicPr>
            <a:picLocks noChangeAspect="1"/>
          </p:cNvPicPr>
          <p:nvPr/>
        </p:nvPicPr>
        <p:blipFill>
          <a:blip r:embed="rId1"/>
          <a:stretch>
            <a:fillRect/>
          </a:stretch>
        </p:blipFill>
        <p:spPr>
          <a:xfrm>
            <a:off x="320040" y="2076935"/>
            <a:ext cx="8321040" cy="3252770"/>
          </a:xfrm>
          <a:prstGeom prst="rect">
            <a:avLst/>
          </a:prstGeom>
        </p:spPr>
      </p:pic>
      <p:sp>
        <p:nvSpPr>
          <p:cNvPr id="4" name="stat test R² with climate, pumping, and date only"/>
          <p:cNvSpPr txBox="1"/>
          <p:nvPr/>
        </p:nvSpPr>
        <p:spPr>
          <a:xfrm>
            <a:off x="9052560" y="1691640"/>
            <a:ext cx="2834640" cy="777240"/>
          </a:xfrm>
          <a:prstGeom prst="rect">
            <a:avLst/>
          </a:prstGeom>
          <a:noFill/>
          <a:ln/>
        </p:spPr>
        <p:txBody>
          <a:bodyPr wrap="square" lIns="0" tIns="0" rIns="0" bIns="0" rtlCol="0" anchor="ctr"/>
          <a:lstStyle/>
          <a:p>
            <a:pPr algn="l" indent="0" marL="0">
              <a:buNone/>
            </a:pPr>
            <a:r>
              <a:rPr lang="en-US" sz="4800" b="1" dirty="0">
                <a:solidFill>
                  <a:srgbClr val="52514E"/>
                </a:solidFill>
              </a:rPr>
              <a:t>0.12</a:t>
            </a:r>
            <a:endParaRPr lang="en-US" sz="4800" dirty="0"/>
          </a:p>
        </p:txBody>
      </p:sp>
      <p:sp>
        <p:nvSpPr>
          <p:cNvPr id="5" name="stat label test R² with climate, pumping, and date only"/>
          <p:cNvSpPr txBox="1"/>
          <p:nvPr/>
        </p:nvSpPr>
        <p:spPr>
          <a:xfrm>
            <a:off x="9052560" y="2496312"/>
            <a:ext cx="2834640" cy="685800"/>
          </a:xfrm>
          <a:prstGeom prst="rect">
            <a:avLst/>
          </a:prstGeom>
          <a:noFill/>
          <a:ln/>
        </p:spPr>
        <p:txBody>
          <a:bodyPr wrap="square" lIns="0" tIns="0" rIns="0" bIns="0" rtlCol="0" anchor="ctr"/>
          <a:lstStyle/>
          <a:p>
            <a:pPr algn="l" indent="0" marL="0">
              <a:buNone/>
            </a:pPr>
            <a:r>
              <a:rPr lang="en-US" sz="1300" dirty="0">
                <a:solidFill>
                  <a:srgbClr val="52514E"/>
                </a:solidFill>
              </a:rPr>
              <a:t>test R² with climate, pumping, and date only</a:t>
            </a:r>
            <a:endParaRPr lang="en-US" sz="1300" dirty="0"/>
          </a:p>
        </p:txBody>
      </p:sp>
      <p:sp>
        <p:nvSpPr>
          <p:cNvPr id="6" name="stat test R² after adding segment identity (one hot encoded)"/>
          <p:cNvSpPr txBox="1"/>
          <p:nvPr/>
        </p:nvSpPr>
        <p:spPr>
          <a:xfrm>
            <a:off x="9052560" y="3246120"/>
            <a:ext cx="2834640" cy="777240"/>
          </a:xfrm>
          <a:prstGeom prst="rect">
            <a:avLst/>
          </a:prstGeom>
          <a:noFill/>
          <a:ln/>
        </p:spPr>
        <p:txBody>
          <a:bodyPr wrap="square" lIns="0" tIns="0" rIns="0" bIns="0" rtlCol="0" anchor="ctr"/>
          <a:lstStyle/>
          <a:p>
            <a:pPr algn="l" indent="0" marL="0">
              <a:buNone/>
            </a:pPr>
            <a:r>
              <a:rPr lang="en-US" sz="4800" b="1" dirty="0">
                <a:solidFill>
                  <a:srgbClr val="2A78D6"/>
                </a:solidFill>
              </a:rPr>
              <a:t>0.82</a:t>
            </a:r>
            <a:endParaRPr lang="en-US" sz="4800" dirty="0"/>
          </a:p>
        </p:txBody>
      </p:sp>
      <p:sp>
        <p:nvSpPr>
          <p:cNvPr id="7" name="stat label test R² after adding segment identity (one hot encoded)"/>
          <p:cNvSpPr txBox="1"/>
          <p:nvPr/>
        </p:nvSpPr>
        <p:spPr>
          <a:xfrm>
            <a:off x="9052560" y="4050792"/>
            <a:ext cx="2834640" cy="685800"/>
          </a:xfrm>
          <a:prstGeom prst="rect">
            <a:avLst/>
          </a:prstGeom>
          <a:noFill/>
          <a:ln/>
        </p:spPr>
        <p:txBody>
          <a:bodyPr wrap="square" lIns="0" tIns="0" rIns="0" bIns="0" rtlCol="0" anchor="ctr"/>
          <a:lstStyle/>
          <a:p>
            <a:pPr algn="l" indent="0" marL="0">
              <a:buNone/>
            </a:pPr>
            <a:r>
              <a:rPr lang="en-US" sz="1300" dirty="0">
                <a:solidFill>
                  <a:srgbClr val="52514E"/>
                </a:solidFill>
              </a:rPr>
              <a:t>test R² after adding segment identity (one hot encoded)</a:t>
            </a:r>
            <a:endParaRPr lang="en-US" sz="1300" dirty="0"/>
          </a:p>
        </p:txBody>
      </p:sp>
      <p:sp>
        <p:nvSpPr>
          <p:cNvPr id="8" name="stat typical prediction error, down from 55 cfs"/>
          <p:cNvSpPr txBox="1"/>
          <p:nvPr/>
        </p:nvSpPr>
        <p:spPr>
          <a:xfrm>
            <a:off x="9052560" y="4800600"/>
            <a:ext cx="2834640" cy="777240"/>
          </a:xfrm>
          <a:prstGeom prst="rect">
            <a:avLst/>
          </a:prstGeom>
          <a:noFill/>
          <a:ln/>
        </p:spPr>
        <p:txBody>
          <a:bodyPr wrap="square" lIns="0" tIns="0" rIns="0" bIns="0" rtlCol="0" anchor="ctr"/>
          <a:lstStyle/>
          <a:p>
            <a:pPr algn="l" indent="0" marL="0">
              <a:buNone/>
            </a:pPr>
            <a:r>
              <a:rPr lang="en-US" sz="4800" b="1" dirty="0">
                <a:solidFill>
                  <a:srgbClr val="EB6834"/>
                </a:solidFill>
              </a:rPr>
              <a:t>25 cfs</a:t>
            </a:r>
            <a:endParaRPr lang="en-US" sz="4800" dirty="0"/>
          </a:p>
        </p:txBody>
      </p:sp>
      <p:sp>
        <p:nvSpPr>
          <p:cNvPr id="9" name="stat label typical prediction error, down from 55 cfs"/>
          <p:cNvSpPr txBox="1"/>
          <p:nvPr/>
        </p:nvSpPr>
        <p:spPr>
          <a:xfrm>
            <a:off x="9052560" y="5605272"/>
            <a:ext cx="2834640" cy="685800"/>
          </a:xfrm>
          <a:prstGeom prst="rect">
            <a:avLst/>
          </a:prstGeom>
          <a:noFill/>
          <a:ln/>
        </p:spPr>
        <p:txBody>
          <a:bodyPr wrap="square" lIns="0" tIns="0" rIns="0" bIns="0" rtlCol="0" anchor="ctr"/>
          <a:lstStyle/>
          <a:p>
            <a:pPr algn="l" indent="0" marL="0">
              <a:buNone/>
            </a:pPr>
            <a:r>
              <a:rPr lang="en-US" sz="1300" dirty="0">
                <a:solidFill>
                  <a:srgbClr val="52514E"/>
                </a:solidFill>
              </a:rPr>
              <a:t>typical prediction error, down from 55 cfs</a:t>
            </a:r>
            <a:endParaRPr lang="en-US" sz="130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lstStyle/>
          <a:p>
            <a:pPr algn="l" indent="0" marL="0">
              <a:buNone/>
            </a:pPr>
            <a:r>
              <a:rPr lang="en-US" sz="2700" b="1" dirty="0">
                <a:solidFill>
                  <a:srgbClr val="0D366B"/>
                </a:solidFill>
              </a:rPr>
              <a:t>Within a single river, regression reads the drivers</a:t>
            </a:r>
            <a:endParaRPr lang="en-US" sz="2700" dirty="0"/>
          </a:p>
        </p:txBody>
      </p:sp>
      <p:pic>
        <p:nvPicPr>
          <p:cNvPr id="3" name="Image 0" descr="/private/tmp/claude-501/-Users-abinashpant-Desktop-cs6830-project6/b04280d9-8c96-4ee3-a8e4-58179a117bd3/scratchpad/figs/fig6_segment.png">    </p:cNvPr>
          <p:cNvPicPr>
            <a:picLocks noChangeAspect="1"/>
          </p:cNvPicPr>
          <p:nvPr/>
        </p:nvPicPr>
        <p:blipFill>
          <a:blip r:embed="rId1"/>
          <a:stretch>
            <a:fillRect/>
          </a:stretch>
        </p:blipFill>
        <p:spPr>
          <a:xfrm>
            <a:off x="1381760" y="1371600"/>
            <a:ext cx="9398000" cy="3383280"/>
          </a:xfrm>
          <a:prstGeom prst="rect">
            <a:avLst/>
          </a:prstGeom>
        </p:spPr>
      </p:pic>
      <p:sp>
        <p:nvSpPr>
          <p:cNvPr id="4" name="chip 1"/>
          <p:cNvSpPr/>
          <p:nvPr/>
        </p:nvSpPr>
        <p:spPr>
          <a:xfrm>
            <a:off x="731520" y="4983480"/>
            <a:ext cx="3474720" cy="1417320"/>
          </a:xfrm>
          <a:prstGeom prst="roundRect">
            <a:avLst>
              <a:gd name="adj" fmla="val 6452"/>
            </a:avLst>
          </a:prstGeom>
          <a:solidFill>
            <a:srgbClr val="EFF4FB"/>
          </a:solidFill>
          <a:ln/>
        </p:spPr>
      </p:sp>
      <p:sp>
        <p:nvSpPr>
          <p:cNvPr id="5" name="chip value 1"/>
          <p:cNvSpPr txBox="1"/>
          <p:nvPr/>
        </p:nvSpPr>
        <p:spPr>
          <a:xfrm>
            <a:off x="960120" y="5120640"/>
            <a:ext cx="3017520" cy="548640"/>
          </a:xfrm>
          <a:prstGeom prst="rect">
            <a:avLst/>
          </a:prstGeom>
          <a:noFill/>
          <a:ln/>
        </p:spPr>
        <p:txBody>
          <a:bodyPr wrap="square" lIns="0" tIns="0" rIns="0" bIns="0" rtlCol="0" anchor="ctr"/>
          <a:lstStyle/>
          <a:p>
            <a:pPr indent="0" marL="0">
              <a:buNone/>
            </a:pPr>
            <a:r>
              <a:rPr lang="en-US" sz="2800" b="1" dirty="0">
                <a:solidFill>
                  <a:srgbClr val="2A78D6"/>
                </a:solidFill>
              </a:rPr>
              <a:t>0.38</a:t>
            </a:r>
            <a:endParaRPr lang="en-US" sz="2800" dirty="0"/>
          </a:p>
        </p:txBody>
      </p:sp>
      <p:sp>
        <p:nvSpPr>
          <p:cNvPr id="6" name="chip label 1"/>
          <p:cNvSpPr txBox="1"/>
          <p:nvPr/>
        </p:nvSpPr>
        <p:spPr>
          <a:xfrm>
            <a:off x="960120" y="5669280"/>
            <a:ext cx="3063240" cy="640080"/>
          </a:xfrm>
          <a:prstGeom prst="rect">
            <a:avLst/>
          </a:prstGeom>
          <a:noFill/>
          <a:ln/>
        </p:spPr>
        <p:txBody>
          <a:bodyPr wrap="square" lIns="0" tIns="0" rIns="0" bIns="0" rtlCol="0" anchor="ctr"/>
          <a:lstStyle/>
          <a:p>
            <a:pPr indent="0" marL="0">
              <a:buNone/>
            </a:pPr>
            <a:r>
              <a:rPr lang="en-US" sz="1200" dirty="0">
                <a:solidFill>
                  <a:srgbClr val="52514E"/>
                </a:solidFill>
              </a:rPr>
              <a:t>median R² across 41 per segment models</a:t>
            </a:r>
            <a:endParaRPr lang="en-US" sz="1200" dirty="0"/>
          </a:p>
        </p:txBody>
      </p:sp>
      <p:sp>
        <p:nvSpPr>
          <p:cNvPr id="7" name="chip 2"/>
          <p:cNvSpPr/>
          <p:nvPr/>
        </p:nvSpPr>
        <p:spPr>
          <a:xfrm>
            <a:off x="4480560" y="4983480"/>
            <a:ext cx="3474720" cy="1417320"/>
          </a:xfrm>
          <a:prstGeom prst="roundRect">
            <a:avLst>
              <a:gd name="adj" fmla="val 6452"/>
            </a:avLst>
          </a:prstGeom>
          <a:solidFill>
            <a:srgbClr val="EFF4FB"/>
          </a:solidFill>
          <a:ln/>
        </p:spPr>
      </p:sp>
      <p:sp>
        <p:nvSpPr>
          <p:cNvPr id="8" name="chip value 2"/>
          <p:cNvSpPr txBox="1"/>
          <p:nvPr/>
        </p:nvSpPr>
        <p:spPr>
          <a:xfrm>
            <a:off x="4709160" y="5120640"/>
            <a:ext cx="3017520" cy="548640"/>
          </a:xfrm>
          <a:prstGeom prst="rect">
            <a:avLst/>
          </a:prstGeom>
          <a:noFill/>
          <a:ln/>
        </p:spPr>
        <p:txBody>
          <a:bodyPr wrap="square" lIns="0" tIns="0" rIns="0" bIns="0" rtlCol="0" anchor="ctr"/>
          <a:lstStyle/>
          <a:p>
            <a:pPr indent="0" marL="0">
              <a:buNone/>
            </a:pPr>
            <a:r>
              <a:rPr lang="en-US" sz="2800" b="1" dirty="0">
                <a:solidFill>
                  <a:srgbClr val="2A78D6"/>
                </a:solidFill>
              </a:rPr>
              <a:t>66%</a:t>
            </a:r>
            <a:endParaRPr lang="en-US" sz="2800" dirty="0"/>
          </a:p>
        </p:txBody>
      </p:sp>
      <p:sp>
        <p:nvSpPr>
          <p:cNvPr id="9" name="chip label 2"/>
          <p:cNvSpPr txBox="1"/>
          <p:nvPr/>
        </p:nvSpPr>
        <p:spPr>
          <a:xfrm>
            <a:off x="4709160" y="5669280"/>
            <a:ext cx="3063240" cy="640080"/>
          </a:xfrm>
          <a:prstGeom prst="rect">
            <a:avLst/>
          </a:prstGeom>
          <a:noFill/>
          <a:ln/>
        </p:spPr>
        <p:txBody>
          <a:bodyPr wrap="square" lIns="0" tIns="0" rIns="0" bIns="0" rtlCol="0" anchor="ctr"/>
          <a:lstStyle/>
          <a:p>
            <a:pPr indent="0" marL="0">
              <a:buNone/>
            </a:pPr>
            <a:r>
              <a:rPr lang="en-US" sz="1200" dirty="0">
                <a:solidFill>
                  <a:srgbClr val="52514E"/>
                </a:solidFill>
              </a:rPr>
              <a:t>of segments: significant positive precipitation effect</a:t>
            </a:r>
            <a:endParaRPr lang="en-US" sz="1200" dirty="0"/>
          </a:p>
        </p:txBody>
      </p:sp>
      <p:sp>
        <p:nvSpPr>
          <p:cNvPr id="10" name="chip 3"/>
          <p:cNvSpPr/>
          <p:nvPr/>
        </p:nvSpPr>
        <p:spPr>
          <a:xfrm>
            <a:off x="8229600" y="4983480"/>
            <a:ext cx="3474720" cy="1417320"/>
          </a:xfrm>
          <a:prstGeom prst="roundRect">
            <a:avLst>
              <a:gd name="adj" fmla="val 6452"/>
            </a:avLst>
          </a:prstGeom>
          <a:solidFill>
            <a:srgbClr val="EFF4FB"/>
          </a:solidFill>
          <a:ln/>
        </p:spPr>
      </p:sp>
      <p:sp>
        <p:nvSpPr>
          <p:cNvPr id="11" name="chip value 3"/>
          <p:cNvSpPr txBox="1"/>
          <p:nvPr/>
        </p:nvSpPr>
        <p:spPr>
          <a:xfrm>
            <a:off x="8458200" y="5120640"/>
            <a:ext cx="3017520" cy="548640"/>
          </a:xfrm>
          <a:prstGeom prst="rect">
            <a:avLst/>
          </a:prstGeom>
          <a:noFill/>
          <a:ln/>
        </p:spPr>
        <p:txBody>
          <a:bodyPr wrap="square" lIns="0" tIns="0" rIns="0" bIns="0" rtlCol="0" anchor="ctr"/>
          <a:lstStyle/>
          <a:p>
            <a:pPr indent="0" marL="0">
              <a:buNone/>
            </a:pPr>
            <a:r>
              <a:rPr lang="en-US" sz="2800" b="1" dirty="0">
                <a:solidFill>
                  <a:srgbClr val="EB6834"/>
                </a:solidFill>
              </a:rPr>
              <a:t>69%</a:t>
            </a:r>
            <a:endParaRPr lang="en-US" sz="2800" dirty="0"/>
          </a:p>
        </p:txBody>
      </p:sp>
      <p:sp>
        <p:nvSpPr>
          <p:cNvPr id="12" name="chip label 3"/>
          <p:cNvSpPr txBox="1"/>
          <p:nvPr/>
        </p:nvSpPr>
        <p:spPr>
          <a:xfrm>
            <a:off x="8458200" y="5669280"/>
            <a:ext cx="3063240" cy="640080"/>
          </a:xfrm>
          <a:prstGeom prst="rect">
            <a:avLst/>
          </a:prstGeom>
          <a:noFill/>
          <a:ln/>
        </p:spPr>
        <p:txBody>
          <a:bodyPr wrap="square" lIns="0" tIns="0" rIns="0" bIns="0" rtlCol="0" anchor="ctr"/>
          <a:lstStyle/>
          <a:p>
            <a:pPr indent="0" marL="0">
              <a:buNone/>
            </a:pPr>
            <a:r>
              <a:rPr lang="en-US" sz="1200" dirty="0">
                <a:solidFill>
                  <a:srgbClr val="52514E"/>
                </a:solidFill>
              </a:rPr>
              <a:t>of pumped segments: more pumping, significantly lower baseflow</a:t>
            </a:r>
            <a:endParaRPr lang="en-US" sz="1200" dirty="0"/>
          </a:p>
        </p:txBody>
      </p:sp>
      <p:sp>
        <p:nvSpPr>
          <p:cNvPr id="25" name="Slide Number Placeholder 0"/>
          <p:cNvSpPr>
            <a:spLocks noGrp="1"/>
          </p:cNvSpPr>
          <p:nvPr>
            <p:ph type="sldNum" sz="quarter" idx="4294967295"/>
          </p:nvPr>
        </p:nvSpPr>
        <p:spPr>
          <a:xfrm>
            <a:off x="116128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keaway title"/>
          <p:cNvSpPr txBox="1"/>
          <p:nvPr/>
        </p:nvSpPr>
        <p:spPr>
          <a:xfrm>
            <a:off x="822960" y="548640"/>
            <a:ext cx="10058400" cy="731520"/>
          </a:xfrm>
          <a:prstGeom prst="rect">
            <a:avLst/>
          </a:prstGeom>
          <a:noFill/>
          <a:ln/>
        </p:spPr>
        <p:txBody>
          <a:bodyPr wrap="square" lIns="0" tIns="0" rIns="0" bIns="0" rtlCol="0" anchor="ctr"/>
          <a:lstStyle/>
          <a:p>
            <a:pPr indent="0" marL="0">
              <a:buNone/>
            </a:pPr>
            <a:r>
              <a:rPr lang="en-US" sz="3200" b="1" dirty="0">
                <a:solidFill>
                  <a:srgbClr val="FFFFFF"/>
                </a:solidFill>
              </a:rPr>
              <a:t>What we take away</a:t>
            </a:r>
            <a:endParaRPr lang="en-US" sz="3200" dirty="0"/>
          </a:p>
        </p:txBody>
      </p:sp>
      <p:sp>
        <p:nvSpPr>
          <p:cNvPr id="3" name="takeaway card 1"/>
          <p:cNvSpPr/>
          <p:nvPr/>
        </p:nvSpPr>
        <p:spPr>
          <a:xfrm>
            <a:off x="822960" y="1691640"/>
            <a:ext cx="5166360" cy="2011680"/>
          </a:xfrm>
          <a:prstGeom prst="roundRect">
            <a:avLst>
              <a:gd name="adj" fmla="val 5455"/>
            </a:avLst>
          </a:prstGeom>
          <a:solidFill>
            <a:srgbClr val="104281"/>
          </a:solidFill>
          <a:ln/>
        </p:spPr>
      </p:sp>
      <p:sp>
        <p:nvSpPr>
          <p:cNvPr id="4" name="takeaway head 1"/>
          <p:cNvSpPr txBox="1"/>
          <p:nvPr/>
        </p:nvSpPr>
        <p:spPr>
          <a:xfrm>
            <a:off x="1143000" y="1892808"/>
            <a:ext cx="4572000" cy="411480"/>
          </a:xfrm>
          <a:prstGeom prst="rect">
            <a:avLst/>
          </a:prstGeom>
          <a:noFill/>
          <a:ln/>
        </p:spPr>
        <p:txBody>
          <a:bodyPr wrap="square" lIns="0" tIns="0" rIns="0" bIns="0" rtlCol="0" anchor="ctr"/>
          <a:lstStyle/>
          <a:p>
            <a:pPr indent="0" marL="0">
              <a:buNone/>
            </a:pPr>
            <a:r>
              <a:rPr lang="en-US" sz="1700" b="1" dirty="0">
                <a:solidFill>
                  <a:srgbClr val="9EC5F4"/>
                </a:solidFill>
              </a:rPr>
              <a:t>Local identity dominates</a:t>
            </a:r>
            <a:endParaRPr lang="en-US" sz="1700" dirty="0"/>
          </a:p>
        </p:txBody>
      </p:sp>
      <p:sp>
        <p:nvSpPr>
          <p:cNvPr id="5" name="takeaway body 1"/>
          <p:cNvSpPr txBox="1"/>
          <p:nvPr/>
        </p:nvSpPr>
        <p:spPr>
          <a:xfrm>
            <a:off x="1143000" y="2350008"/>
            <a:ext cx="4572000" cy="1234440"/>
          </a:xfrm>
          <a:prstGeom prst="rect">
            <a:avLst/>
          </a:prstGeom>
          <a:noFill/>
          <a:ln/>
        </p:spPr>
        <p:txBody>
          <a:bodyPr wrap="square" lIns="0" tIns="0" rIns="0" bIns="0" rtlCol="0" anchor="ctr"/>
          <a:lstStyle/>
          <a:p>
            <a:pPr indent="0" marL="0">
              <a:buNone/>
            </a:pPr>
            <a:r>
              <a:rPr lang="en-US" sz="1250" dirty="0">
                <a:solidFill>
                  <a:srgbClr val="F0EFEC"/>
                </a:solidFill>
              </a:rPr>
              <a:t>A useful baseflow model must know which river segment it is looking at. Segment identity lifts test R² from 0.12 to 0.82 and halves the error.</a:t>
            </a:r>
            <a:endParaRPr lang="en-US" sz="1250" dirty="0"/>
          </a:p>
        </p:txBody>
      </p:sp>
      <p:sp>
        <p:nvSpPr>
          <p:cNvPr id="6" name="takeaway card 2"/>
          <p:cNvSpPr/>
          <p:nvPr/>
        </p:nvSpPr>
        <p:spPr>
          <a:xfrm>
            <a:off x="6400800" y="1691640"/>
            <a:ext cx="5166360" cy="2011680"/>
          </a:xfrm>
          <a:prstGeom prst="roundRect">
            <a:avLst>
              <a:gd name="adj" fmla="val 5455"/>
            </a:avLst>
          </a:prstGeom>
          <a:solidFill>
            <a:srgbClr val="104281"/>
          </a:solidFill>
          <a:ln/>
        </p:spPr>
      </p:sp>
      <p:sp>
        <p:nvSpPr>
          <p:cNvPr id="7" name="takeaway head 2"/>
          <p:cNvSpPr txBox="1"/>
          <p:nvPr/>
        </p:nvSpPr>
        <p:spPr>
          <a:xfrm>
            <a:off x="6720840" y="1892808"/>
            <a:ext cx="4572000" cy="411480"/>
          </a:xfrm>
          <a:prstGeom prst="rect">
            <a:avLst/>
          </a:prstGeom>
          <a:noFill/>
          <a:ln/>
        </p:spPr>
        <p:txBody>
          <a:bodyPr wrap="square" lIns="0" tIns="0" rIns="0" bIns="0" rtlCol="0" anchor="ctr"/>
          <a:lstStyle/>
          <a:p>
            <a:pPr indent="0" marL="0">
              <a:buNone/>
            </a:pPr>
            <a:r>
              <a:rPr lang="en-US" sz="1700" b="1" dirty="0">
                <a:solidFill>
                  <a:srgbClr val="9EC5F4"/>
                </a:solidFill>
              </a:rPr>
              <a:t>Climate acts as expected</a:t>
            </a:r>
            <a:endParaRPr lang="en-US" sz="1700" dirty="0"/>
          </a:p>
        </p:txBody>
      </p:sp>
      <p:sp>
        <p:nvSpPr>
          <p:cNvPr id="8" name="takeaway body 2"/>
          <p:cNvSpPr txBox="1"/>
          <p:nvPr/>
        </p:nvSpPr>
        <p:spPr>
          <a:xfrm>
            <a:off x="6720840" y="2350008"/>
            <a:ext cx="4572000" cy="1234440"/>
          </a:xfrm>
          <a:prstGeom prst="rect">
            <a:avLst/>
          </a:prstGeom>
          <a:noFill/>
          <a:ln/>
        </p:spPr>
        <p:txBody>
          <a:bodyPr wrap="square" lIns="0" tIns="0" rIns="0" bIns="0" rtlCol="0" anchor="ctr"/>
          <a:lstStyle/>
          <a:p>
            <a:pPr indent="0" marL="0">
              <a:buNone/>
            </a:pPr>
            <a:r>
              <a:rPr lang="en-US" sz="1250" dirty="0">
                <a:solidFill>
                  <a:srgbClr val="F0EFEC"/>
                </a:solidFill>
              </a:rPr>
              <a:t>Rain raises baseflow and evapotranspiration lowers it, with significant coefficients basin wide and in most individual segments.</a:t>
            </a:r>
            <a:endParaRPr lang="en-US" sz="1250" dirty="0"/>
          </a:p>
        </p:txBody>
      </p:sp>
      <p:sp>
        <p:nvSpPr>
          <p:cNvPr id="9" name="takeaway card 3"/>
          <p:cNvSpPr/>
          <p:nvPr/>
        </p:nvSpPr>
        <p:spPr>
          <a:xfrm>
            <a:off x="822960" y="4023360"/>
            <a:ext cx="5166360" cy="2011680"/>
          </a:xfrm>
          <a:prstGeom prst="roundRect">
            <a:avLst>
              <a:gd name="adj" fmla="val 5455"/>
            </a:avLst>
          </a:prstGeom>
          <a:solidFill>
            <a:srgbClr val="104281"/>
          </a:solidFill>
          <a:ln/>
        </p:spPr>
      </p:sp>
      <p:sp>
        <p:nvSpPr>
          <p:cNvPr id="10" name="takeaway head 3"/>
          <p:cNvSpPr txBox="1"/>
          <p:nvPr/>
        </p:nvSpPr>
        <p:spPr>
          <a:xfrm>
            <a:off x="1143000" y="4224528"/>
            <a:ext cx="4572000" cy="411480"/>
          </a:xfrm>
          <a:prstGeom prst="rect">
            <a:avLst/>
          </a:prstGeom>
          <a:noFill/>
          <a:ln/>
        </p:spPr>
        <p:txBody>
          <a:bodyPr wrap="square" lIns="0" tIns="0" rIns="0" bIns="0" rtlCol="0" anchor="ctr"/>
          <a:lstStyle/>
          <a:p>
            <a:pPr indent="0" marL="0">
              <a:buNone/>
            </a:pPr>
            <a:r>
              <a:rPr lang="en-US" sz="1700" b="1" dirty="0">
                <a:solidFill>
                  <a:srgbClr val="F4A77D"/>
                </a:solidFill>
              </a:rPr>
              <a:t>Pumping leaves a fingerprint</a:t>
            </a:r>
            <a:endParaRPr lang="en-US" sz="1700" dirty="0"/>
          </a:p>
        </p:txBody>
      </p:sp>
      <p:sp>
        <p:nvSpPr>
          <p:cNvPr id="11" name="takeaway body 3"/>
          <p:cNvSpPr txBox="1"/>
          <p:nvPr/>
        </p:nvSpPr>
        <p:spPr>
          <a:xfrm>
            <a:off x="1143000" y="4681728"/>
            <a:ext cx="4572000" cy="1234440"/>
          </a:xfrm>
          <a:prstGeom prst="rect">
            <a:avLst/>
          </a:prstGeom>
          <a:noFill/>
          <a:ln/>
        </p:spPr>
        <p:txBody>
          <a:bodyPr wrap="square" lIns="0" tIns="0" rIns="0" bIns="0" rtlCol="0" anchor="ctr"/>
          <a:lstStyle/>
          <a:p>
            <a:pPr indent="0" marL="0">
              <a:buNone/>
            </a:pPr>
            <a:r>
              <a:rPr lang="en-US" sz="1250" dirty="0">
                <a:solidFill>
                  <a:srgbClr val="F0EFEC"/>
                </a:solidFill>
              </a:rPr>
              <a:t>In 69 percent of pumped segments, more irrigation pumping is significantly associated with lower baseflow, matching the long run decline.</a:t>
            </a:r>
            <a:endParaRPr lang="en-US" sz="1250" dirty="0"/>
          </a:p>
        </p:txBody>
      </p:sp>
      <p:sp>
        <p:nvSpPr>
          <p:cNvPr id="12" name="takeaway card 4"/>
          <p:cNvSpPr/>
          <p:nvPr/>
        </p:nvSpPr>
        <p:spPr>
          <a:xfrm>
            <a:off x="6400800" y="4023360"/>
            <a:ext cx="5166360" cy="2011680"/>
          </a:xfrm>
          <a:prstGeom prst="roundRect">
            <a:avLst>
              <a:gd name="adj" fmla="val 5455"/>
            </a:avLst>
          </a:prstGeom>
          <a:solidFill>
            <a:srgbClr val="104281"/>
          </a:solidFill>
          <a:ln/>
        </p:spPr>
      </p:sp>
      <p:sp>
        <p:nvSpPr>
          <p:cNvPr id="13" name="takeaway head 4"/>
          <p:cNvSpPr txBox="1"/>
          <p:nvPr/>
        </p:nvSpPr>
        <p:spPr>
          <a:xfrm>
            <a:off x="6720840" y="4224528"/>
            <a:ext cx="4572000" cy="411480"/>
          </a:xfrm>
          <a:prstGeom prst="rect">
            <a:avLst/>
          </a:prstGeom>
          <a:noFill/>
          <a:ln/>
        </p:spPr>
        <p:txBody>
          <a:bodyPr wrap="square" lIns="0" tIns="0" rIns="0" bIns="0" rtlCol="0" anchor="ctr"/>
          <a:lstStyle/>
          <a:p>
            <a:pPr indent="0" marL="0">
              <a:buNone/>
            </a:pPr>
            <a:r>
              <a:rPr lang="en-US" sz="1700" b="1" dirty="0">
                <a:solidFill>
                  <a:srgbClr val="9EC5F4"/>
                </a:solidFill>
              </a:rPr>
              <a:t>Next steps</a:t>
            </a:r>
            <a:endParaRPr lang="en-US" sz="1700" dirty="0"/>
          </a:p>
        </p:txBody>
      </p:sp>
      <p:sp>
        <p:nvSpPr>
          <p:cNvPr id="14" name="takeaway body 4"/>
          <p:cNvSpPr txBox="1"/>
          <p:nvPr/>
        </p:nvSpPr>
        <p:spPr>
          <a:xfrm>
            <a:off x="6720840" y="4681728"/>
            <a:ext cx="4572000" cy="1234440"/>
          </a:xfrm>
          <a:prstGeom prst="rect">
            <a:avLst/>
          </a:prstGeom>
          <a:noFill/>
          <a:ln/>
        </p:spPr>
        <p:txBody>
          <a:bodyPr wrap="square" lIns="0" tIns="0" rIns="0" bIns="0" rtlCol="0" anchor="ctr"/>
          <a:lstStyle/>
          <a:p>
            <a:pPr indent="0" marL="0">
              <a:buNone/>
            </a:pPr>
            <a:r>
              <a:rPr lang="en-US" sz="1250" dirty="0">
                <a:solidFill>
                  <a:srgbClr val="F0EFEC"/>
                </a:solidFill>
              </a:rPr>
              <a:t>Add seasonality and lagged precipitation, model log flow, and consider mixed effects models that give each segment its own slopes.</a:t>
            </a:r>
            <a:endParaRPr lang="en-US" sz="1250" dirty="0"/>
          </a:p>
        </p:txBody>
      </p:sp>
    </p:spTree>
  </p:cSld>
  <p:clrMapOvr>
    <a:masterClrMapping/>
  </p:clrMapOvr>
</p:sld>
</file>

<file path=ppt/theme/theme1.xml><?xml version="1.0" encoding="utf-8"?>
<a:theme xmlns:a="http://schemas.openxmlformats.org/drawingml/2006/main" name="Baseflow">
  <a:themeElements>
    <a:clrScheme name="Baseflow">
      <a:dk1>
        <a:srgbClr val="0B0B0B"/>
      </a:dk1>
      <a:lt1>
        <a:srgbClr val="FCFCFB"/>
      </a:lt1>
      <a:dk2>
        <a:srgbClr val="0D366B"/>
      </a:dk2>
      <a:lt2>
        <a:srgbClr val="CDE2FB"/>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104281"/>
      </a:folHlink>
    </a:clrScheme>
    <a:fontScheme name="Baseflow">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River Baseflow</dc:title>
  <dc:subject>Predicting river baseflow with multiple linear regression</dc:subject>
  <dc:creator>Project 6 team</dc:creator>
  <cp:lastModifiedBy>Project 6 team</cp:lastModifiedBy>
  <cp:revision>1</cp:revision>
  <dcterms:created xsi:type="dcterms:W3CDTF">2026-10-25T07:36:59Z</dcterms:created>
  <dcterms:modified xsi:type="dcterms:W3CDTF">2026-10-25T07:36:59Z</dcterms:modified>
</cp:coreProperties>
</file>